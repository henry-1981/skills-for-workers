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34832" y="2961602"/>
            <a:ext cx="1996783" cy="3982796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0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endParaRPr lang="en-US" sz="30000" dirty="0"/>
          </a:p>
        </p:txBody>
      </p:sp>
      <p:sp>
        <p:nvSpPr>
          <p:cNvPr id="4" name="Text 1"/>
          <p:cNvSpPr/>
          <p:nvPr/>
        </p:nvSpPr>
        <p:spPr>
          <a:xfrm>
            <a:off x="762000" y="514350"/>
            <a:ext cx="2854375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VOKE Brand Strategy 2026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16985754" y="514350"/>
            <a:ext cx="540246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07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762000" y="1524000"/>
            <a:ext cx="4903440" cy="378708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RAW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거침없는진정성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30000" y="8107859"/>
            <a:ext cx="6096000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11430000" y="8412659"/>
            <a:ext cx="6096000" cy="73134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0D0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VOKE의 핵심 가치 '거침없는 진정성'은 MZ세대(25-35)가 브랜드에 요구하는 유일한 자격증이다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2000" y="9629775"/>
            <a:ext cx="2298502" cy="1428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VOKE · MZ Strategy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14350"/>
            <a:ext cx="2854375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VOKE Brand Strategy 2026</a:t>
            </a:r>
            <a:endParaRPr lang="en-US" sz="975" dirty="0"/>
          </a:p>
        </p:txBody>
      </p:sp>
      <p:sp>
        <p:nvSpPr>
          <p:cNvPr id="4" name="Text 1"/>
          <p:cNvSpPr/>
          <p:nvPr/>
        </p:nvSpPr>
        <p:spPr>
          <a:xfrm>
            <a:off x="16954351" y="514350"/>
            <a:ext cx="571649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07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381000" y="952500"/>
            <a:ext cx="3584823" cy="3429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</a:t>
            </a:r>
            <a:endParaRPr lang="en-US" sz="27000" dirty="0"/>
          </a:p>
        </p:txBody>
      </p:sp>
      <p:sp>
        <p:nvSpPr>
          <p:cNvPr id="6" name="Text 3"/>
          <p:cNvSpPr/>
          <p:nvPr/>
        </p:nvSpPr>
        <p:spPr>
          <a:xfrm>
            <a:off x="762000" y="5660231"/>
            <a:ext cx="7620000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01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762000" y="6003131"/>
            <a:ext cx="7620000" cy="2194322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INSTA-GRAM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762000" y="8273653"/>
            <a:ext cx="7620000" cy="4572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비주얼 정체성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62000" y="9035653"/>
            <a:ext cx="7620000" cy="565547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· 릴스 · 스토리브랜드 세계관의 1차 거점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763000" y="4762500"/>
            <a:ext cx="762000" cy="762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3465522" y="952500"/>
            <a:ext cx="5012978" cy="3429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YT</a:t>
            </a:r>
            <a:endParaRPr lang="en-US" sz="27000" dirty="0"/>
          </a:p>
        </p:txBody>
      </p:sp>
      <p:sp>
        <p:nvSpPr>
          <p:cNvPr id="12" name="Text 9"/>
          <p:cNvSpPr/>
          <p:nvPr/>
        </p:nvSpPr>
        <p:spPr>
          <a:xfrm>
            <a:off x="9906000" y="5660231"/>
            <a:ext cx="7620000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02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9906000" y="6003131"/>
            <a:ext cx="7620000" cy="2194322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YOUTUBESHORTS</a:t>
            </a:r>
            <a:endParaRPr lang="en-US" sz="9600" dirty="0"/>
          </a:p>
        </p:txBody>
      </p:sp>
      <p:sp>
        <p:nvSpPr>
          <p:cNvPr id="14" name="Text 11"/>
          <p:cNvSpPr/>
          <p:nvPr/>
        </p:nvSpPr>
        <p:spPr>
          <a:xfrm>
            <a:off x="9906000" y="8273653"/>
            <a:ext cx="7620000" cy="4572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바이럴 엔진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9906000" y="9035653"/>
            <a:ext cx="7620000" cy="565547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60초 이하 · 알고리즘 도달신규 오디언스 폭발적 확장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62000" y="9791700"/>
            <a:ext cx="16764000" cy="2857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인스타그램 + 유튜브 쇼츠 — MZ의 체류 시간이 가장 긴 두 채널에 집중한다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13269" y="-762000"/>
            <a:ext cx="7755731" cy="6477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51000" dirty="0"/>
          </a:p>
        </p:txBody>
      </p:sp>
      <p:sp>
        <p:nvSpPr>
          <p:cNvPr id="4" name="Text 1"/>
          <p:cNvSpPr/>
          <p:nvPr/>
        </p:nvSpPr>
        <p:spPr>
          <a:xfrm>
            <a:off x="16959263" y="514350"/>
            <a:ext cx="566738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07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762000" y="2543175"/>
            <a:ext cx="6667500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Partnership Strategy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762000" y="3000375"/>
            <a:ext cx="6667500" cy="25908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0" b="1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24000" dirty="0"/>
          </a:p>
        </p:txBody>
      </p:sp>
      <p:sp>
        <p:nvSpPr>
          <p:cNvPr id="7" name="Text 4"/>
          <p:cNvSpPr/>
          <p:nvPr/>
        </p:nvSpPr>
        <p:spPr>
          <a:xfrm>
            <a:off x="762000" y="5705475"/>
            <a:ext cx="6667500" cy="7239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0F0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62000" y="6772275"/>
            <a:ext cx="4572000" cy="9715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마이크로·매크로 혼합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팔로워보다 진정성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VOKE 세계관과 결이 맞는 목소리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933384" y="1404938"/>
            <a:ext cx="516582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A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9995446" y="1595438"/>
            <a:ext cx="392460" cy="3333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5명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2366575" y="1690688"/>
            <a:ext cx="412849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12234863" y="1881187"/>
            <a:ext cx="676126" cy="3333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매크로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4533513" y="1357313"/>
            <a:ext cx="460474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100K+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14425613" y="1547813"/>
            <a:ext cx="676126" cy="3333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팔로워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125819" y="3000375"/>
            <a:ext cx="512862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B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0182225" y="3190875"/>
            <a:ext cx="400050" cy="3333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9명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2214622" y="3238500"/>
            <a:ext cx="716607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Mid-tier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2122200" y="3429000"/>
            <a:ext cx="901452" cy="3333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마이크로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4573994" y="2928938"/>
            <a:ext cx="712738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10K-100K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4592300" y="3119438"/>
            <a:ext cx="676126" cy="3333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팔로워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6647319" y="3124200"/>
            <a:ext cx="376089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Eng.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16521261" y="3314700"/>
            <a:ext cx="628352" cy="3238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8%+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9645551" y="4714875"/>
            <a:ext cx="520898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C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9705975" y="4905375"/>
            <a:ext cx="400050" cy="3333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6명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1950154" y="4929188"/>
            <a:ext cx="436066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Nano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1942713" y="5119688"/>
            <a:ext cx="450800" cy="3333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나노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14171563" y="4714875"/>
            <a:ext cx="517624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1K-10K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14092238" y="4905375"/>
            <a:ext cx="676126" cy="3333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팔로워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16356657" y="4857750"/>
            <a:ext cx="481161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Auth.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16259175" y="5048250"/>
            <a:ext cx="676126" cy="3333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최우선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10641211" y="6415088"/>
            <a:ext cx="1767929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Selection Criterion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10671274" y="6605588"/>
            <a:ext cx="1707952" cy="2667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브랜드 핏 &gt; 팔로워 수</a:t>
            </a:r>
            <a:endParaRPr lang="en-US" sz="1650" dirty="0"/>
          </a:p>
        </p:txBody>
      </p:sp>
      <p:sp>
        <p:nvSpPr>
          <p:cNvPr id="33" name="Text 30"/>
          <p:cNvSpPr/>
          <p:nvPr/>
        </p:nvSpPr>
        <p:spPr>
          <a:xfrm>
            <a:off x="14298513" y="6486525"/>
            <a:ext cx="835075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14185999" y="6677025"/>
            <a:ext cx="1060252" cy="2667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6개월 파트너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16618744" y="6500813"/>
            <a:ext cx="623739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16511141" y="6691313"/>
            <a:ext cx="839093" cy="2381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콘텐츠 자율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62000" y="9772650"/>
            <a:ext cx="16764000" cy="2857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0D0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20명 파트너십 — 브랜드가 아니라 사람이 먼저 말한다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90550"/>
            <a:ext cx="4203650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VOKE Brand Strategy 2026 — Offline</a:t>
            </a:r>
            <a:endParaRPr lang="en-US" sz="975" dirty="0"/>
          </a:p>
        </p:txBody>
      </p:sp>
      <p:sp>
        <p:nvSpPr>
          <p:cNvPr id="4" name="Text 1"/>
          <p:cNvSpPr/>
          <p:nvPr/>
        </p:nvSpPr>
        <p:spPr>
          <a:xfrm>
            <a:off x="16957625" y="590550"/>
            <a:ext cx="568375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07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71500" y="762000"/>
            <a:ext cx="3248174" cy="5334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2000" dirty="0"/>
          </a:p>
        </p:txBody>
      </p:sp>
      <p:sp>
        <p:nvSpPr>
          <p:cNvPr id="6" name="Text 3"/>
          <p:cNvSpPr/>
          <p:nvPr/>
        </p:nvSpPr>
        <p:spPr>
          <a:xfrm>
            <a:off x="4838700" y="1981200"/>
            <a:ext cx="3505200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01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838700" y="2133600"/>
            <a:ext cx="3505200" cy="6858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성수동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4838700" y="2895600"/>
            <a:ext cx="3505200" cy="1905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Seongsu-dong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38700" y="4990505"/>
            <a:ext cx="3505200" cy="801439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MZ 문화 1번지</a:t>
            </a:r>
            <a:endParaRPr lang="en-US" sz="1275" dirty="0"/>
          </a:p>
          <a:p>
            <a:pPr algn="l" indent="0" marL="0">
              <a:buNone/>
            </a:pPr>
            <a:r>
              <a:rPr lang="en-US" sz="1275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힙스터 오리지널 커뮤니티</a:t>
            </a:r>
            <a:endParaRPr lang="en-US" sz="1275" dirty="0"/>
          </a:p>
          <a:p>
            <a:pPr algn="l" indent="0" marL="0">
              <a:buNone/>
            </a:pPr>
            <a:r>
              <a:rPr lang="en-US" sz="1275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체험 중심 플래그십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4972050" y="7753350"/>
            <a:ext cx="3238500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1–2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9220200" y="1981200"/>
            <a:ext cx="3505200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02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9220200" y="2133600"/>
            <a:ext cx="3505200" cy="6858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0F0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홍대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9220200" y="2895600"/>
            <a:ext cx="3505200" cy="1905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Hongdae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220200" y="4990505"/>
            <a:ext cx="3505200" cy="801439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AAAA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청년 밀집 · 유동인구 최대</a:t>
            </a:r>
            <a:endParaRPr lang="en-US" sz="1275" dirty="0"/>
          </a:p>
          <a:p>
            <a:pPr algn="l" indent="0" marL="0">
              <a:buNone/>
            </a:pPr>
            <a:r>
              <a:rPr lang="en-US" sz="1275" dirty="0">
                <a:solidFill>
                  <a:srgbClr val="AAAA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인플루언서 동반 이벤트</a:t>
            </a:r>
            <a:endParaRPr lang="en-US" sz="1275" dirty="0"/>
          </a:p>
          <a:p>
            <a:pPr algn="l" indent="0" marL="0">
              <a:buNone/>
            </a:pPr>
            <a:r>
              <a:rPr lang="en-US" sz="1275" dirty="0">
                <a:solidFill>
                  <a:srgbClr val="AAAA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바이럴 콘텐츠 생산 거점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9353550" y="7753350"/>
            <a:ext cx="3238500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3–4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3601700" y="1981200"/>
            <a:ext cx="3505200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03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13601700" y="2133600"/>
            <a:ext cx="3505200" cy="6858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</a:t>
            </a:r>
            <a:endParaRPr lang="en-US" sz="5400" dirty="0"/>
          </a:p>
        </p:txBody>
      </p:sp>
      <p:sp>
        <p:nvSpPr>
          <p:cNvPr id="18" name="Text 15"/>
          <p:cNvSpPr/>
          <p:nvPr/>
        </p:nvSpPr>
        <p:spPr>
          <a:xfrm>
            <a:off x="13601700" y="2895600"/>
            <a:ext cx="3505200" cy="1905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Gangnam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3601700" y="4990505"/>
            <a:ext cx="3505200" cy="801439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구매력 있는 MZ 집결지</a:t>
            </a:r>
            <a:endParaRPr lang="en-US" sz="1275" dirty="0"/>
          </a:p>
          <a:p>
            <a:pPr algn="l" indent="0" marL="0">
              <a:buNone/>
            </a:pPr>
            <a:r>
              <a:rPr lang="en-US" sz="1275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프리미엄 브랜드 포지셔닝</a:t>
            </a:r>
            <a:endParaRPr lang="en-US" sz="1275" dirty="0"/>
          </a:p>
          <a:p>
            <a:pPr algn="l" indent="0" marL="0">
              <a:buNone/>
            </a:pPr>
            <a:r>
              <a:rPr lang="en-US" sz="1275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멤버십 가입 전환 최적화</a:t>
            </a:r>
            <a:endParaRPr lang="en-US" sz="1275" dirty="0"/>
          </a:p>
        </p:txBody>
      </p:sp>
      <p:sp>
        <p:nvSpPr>
          <p:cNvPr id="20" name="Text 17"/>
          <p:cNvSpPr/>
          <p:nvPr/>
        </p:nvSpPr>
        <p:spPr>
          <a:xfrm>
            <a:off x="13735050" y="7753350"/>
            <a:ext cx="3238500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5–6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762000" y="9791700"/>
            <a:ext cx="16764000" cy="2857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팝업스토어 3곳 — 디지털 브랜드가 물리적 경험을 만들 때 기억이 된다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62983" y="514350"/>
            <a:ext cx="563017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07</a:t>
            </a:r>
            <a:endParaRPr lang="en-US" sz="975" dirty="0"/>
          </a:p>
        </p:txBody>
      </p:sp>
      <p:sp>
        <p:nvSpPr>
          <p:cNvPr id="4" name="Text 1"/>
          <p:cNvSpPr/>
          <p:nvPr/>
        </p:nvSpPr>
        <p:spPr>
          <a:xfrm>
            <a:off x="762000" y="457200"/>
            <a:ext cx="3904804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Timeline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762000" y="381000"/>
            <a:ext cx="1437233" cy="27717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8000" dirty="0"/>
          </a:p>
        </p:txBody>
      </p:sp>
      <p:sp>
        <p:nvSpPr>
          <p:cNvPr id="6" name="Text 3"/>
          <p:cNvSpPr/>
          <p:nvPr/>
        </p:nvSpPr>
        <p:spPr>
          <a:xfrm>
            <a:off x="2275433" y="1943100"/>
            <a:ext cx="2391370" cy="8191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12192000" y="969615"/>
            <a:ext cx="5334000" cy="128007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1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속도가 곧 에너지</a:t>
            </a:r>
            <a:endParaRPr lang="en-US" sz="2100" dirty="0"/>
          </a:p>
          <a:p>
            <a:pPr algn="r" indent="0" marL="0">
              <a:buNone/>
            </a:pPr>
            <a:r>
              <a:rPr lang="en-US" sz="21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질질 끌면진정성이 식는다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66341" y="3429000"/>
            <a:ext cx="208806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W1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762000" y="4705350"/>
            <a:ext cx="617488" cy="4000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0D0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인플루언서온보딩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3306217" y="3429000"/>
            <a:ext cx="230088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W2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156347" y="4705350"/>
            <a:ext cx="529828" cy="4000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0D0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콘텐츠제작 개시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5612309" y="3429000"/>
            <a:ext cx="230832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462885" y="4705350"/>
            <a:ext cx="529828" cy="4000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0D0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성수팝업 오픈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7919293" y="3429000"/>
            <a:ext cx="230386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W4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7769572" y="4705350"/>
            <a:ext cx="529828" cy="4000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0D0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홍대팝업 오픈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10227022" y="3429000"/>
            <a:ext cx="228302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W5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0076259" y="4705350"/>
            <a:ext cx="529828" cy="4000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강남팝업 오픈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12532221" y="3429000"/>
            <a:ext cx="231130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W6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12382946" y="4705350"/>
            <a:ext cx="529828" cy="4000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Shorts집중 배포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14841587" y="3429000"/>
            <a:ext cx="225475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W7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14689485" y="4705350"/>
            <a:ext cx="529828" cy="4000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성과중간 점검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17145595" y="3429000"/>
            <a:ext cx="230981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W8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16996172" y="4705350"/>
            <a:ext cx="529828" cy="4000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KPI최종 평가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762000" y="6096000"/>
            <a:ext cx="5537150" cy="4572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— Ignition (W1–W4)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6375350" y="6096000"/>
            <a:ext cx="5537299" cy="4572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— Amplify (W5–W6)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1988850" y="6096000"/>
            <a:ext cx="5537150" cy="4572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 — Measure (W7–W8)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762000" y="9734550"/>
            <a:ext cx="16764000" cy="2857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0D0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론칭 타임라인 8주 — 속도가 곧 에너지, 질질 끌면 진정성이 식는다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14350"/>
            <a:ext cx="3947071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VOKE Brand Strategy 2026 — Budget</a:t>
            </a:r>
            <a:endParaRPr lang="en-US" sz="975" dirty="0"/>
          </a:p>
        </p:txBody>
      </p:sp>
      <p:sp>
        <p:nvSpPr>
          <p:cNvPr id="4" name="Text 1"/>
          <p:cNvSpPr/>
          <p:nvPr/>
        </p:nvSpPr>
        <p:spPr>
          <a:xfrm>
            <a:off x="16961346" y="514350"/>
            <a:ext cx="564654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07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190500" y="6858000"/>
            <a:ext cx="4395490" cy="2667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0" b="1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</a:t>
            </a:r>
            <a:endParaRPr lang="en-US" sz="21000" dirty="0"/>
          </a:p>
        </p:txBody>
      </p:sp>
      <p:sp>
        <p:nvSpPr>
          <p:cNvPr id="6" name="Text 3"/>
          <p:cNvSpPr/>
          <p:nvPr/>
        </p:nvSpPr>
        <p:spPr>
          <a:xfrm>
            <a:off x="952500" y="2046982"/>
            <a:ext cx="9067800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Channel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952500" y="2427982"/>
            <a:ext cx="9067800" cy="30765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5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28500" dirty="0"/>
          </a:p>
        </p:txBody>
      </p:sp>
      <p:sp>
        <p:nvSpPr>
          <p:cNvPr id="8" name="Text 5"/>
          <p:cNvSpPr/>
          <p:nvPr/>
        </p:nvSpPr>
        <p:spPr>
          <a:xfrm>
            <a:off x="952500" y="5580757"/>
            <a:ext cx="9067800" cy="7239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952500" y="6609457"/>
            <a:ext cx="9067800" cy="33516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MZ 도달 — 넓고 빠르게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143000" y="7211318"/>
            <a:ext cx="8877300" cy="3429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인스타그램 콘텐츠 · 릴스 광고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43000" y="7554218"/>
            <a:ext cx="8877300" cy="3429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 쇼츠 제작 · 배포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43000" y="7897118"/>
            <a:ext cx="8877300" cy="3429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20명 파트너십 피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5005000" y="762000"/>
            <a:ext cx="3473500" cy="1905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</a:t>
            </a:r>
            <a:endParaRPr lang="en-US" sz="15000" dirty="0"/>
          </a:p>
        </p:txBody>
      </p:sp>
      <p:sp>
        <p:nvSpPr>
          <p:cNvPr id="14" name="Text 11"/>
          <p:cNvSpPr/>
          <p:nvPr/>
        </p:nvSpPr>
        <p:spPr>
          <a:xfrm>
            <a:off x="11734800" y="2537520"/>
            <a:ext cx="5791200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Channel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11734800" y="2918520"/>
            <a:ext cx="5791200" cy="22669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</a:t>
            </a:r>
            <a:endParaRPr lang="en-US" sz="21000" dirty="0"/>
          </a:p>
        </p:txBody>
      </p:sp>
      <p:sp>
        <p:nvSpPr>
          <p:cNvPr id="16" name="Text 13"/>
          <p:cNvSpPr/>
          <p:nvPr/>
        </p:nvSpPr>
        <p:spPr>
          <a:xfrm>
            <a:off x="11734800" y="5261670"/>
            <a:ext cx="5791200" cy="5524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11734800" y="6118920"/>
            <a:ext cx="5791200" cy="335161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 각인 — 깊고 오래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925300" y="6720780"/>
            <a:ext cx="5600700" cy="3429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팝업스토어 3곳 운영비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925300" y="7063680"/>
            <a:ext cx="5600700" cy="3429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콘텐츠 제작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925300" y="7406580"/>
            <a:ext cx="5600700" cy="3429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 이벤트 · 굿즈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62000" y="9791700"/>
            <a:ext cx="16764000" cy="2857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60% / 오프라인 40% — MZ 도달은 디지털, 기억 각인은 오프라인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14350"/>
            <a:ext cx="3689152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VOKE Brand Strategy 2026 — KPI</a:t>
            </a:r>
            <a:endParaRPr lang="en-US" sz="975" dirty="0"/>
          </a:p>
        </p:txBody>
      </p:sp>
      <p:sp>
        <p:nvSpPr>
          <p:cNvPr id="4" name="Text 1"/>
          <p:cNvSpPr/>
          <p:nvPr/>
        </p:nvSpPr>
        <p:spPr>
          <a:xfrm>
            <a:off x="16965960" y="514350"/>
            <a:ext cx="560040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07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71500" y="381000"/>
            <a:ext cx="8245822" cy="58293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51000" dirty="0"/>
          </a:p>
        </p:txBody>
      </p:sp>
      <p:sp>
        <p:nvSpPr>
          <p:cNvPr id="6" name="Text 3"/>
          <p:cNvSpPr/>
          <p:nvPr/>
        </p:nvSpPr>
        <p:spPr>
          <a:xfrm>
            <a:off x="762000" y="1238250"/>
            <a:ext cx="7807970" cy="38100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브랜드 인지도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192000" y="1143000"/>
            <a:ext cx="5334000" cy="15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Only Metric That Matters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2458700" y="1524000"/>
            <a:ext cx="5067300" cy="20955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이것이성공의유일한기준이다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1028700" y="8210550"/>
            <a:ext cx="2788890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KPI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1028700" y="8458200"/>
            <a:ext cx="2788890" cy="3238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28700" y="8858250"/>
            <a:ext cx="2788890" cy="4286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MZ세대(25–35) 브랜드 인지도8주 내 달성 목표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4389090" y="8210550"/>
            <a:ext cx="2789039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389090" y="8458200"/>
            <a:ext cx="2789039" cy="3238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~5%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389090" y="8858250"/>
            <a:ext cx="2789039" cy="4286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론칭 전 현재 인지도(추정치)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7749629" y="8210550"/>
            <a:ext cx="2788890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7749629" y="8458200"/>
            <a:ext cx="2788890" cy="3238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×8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7749629" y="8858250"/>
            <a:ext cx="2788890" cy="4286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 만에 8배 증가공격적이지만 달성 가능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11110020" y="8210550"/>
            <a:ext cx="2788890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Measurement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11110020" y="8458200"/>
            <a:ext cx="2788890" cy="3333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설문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1110020" y="8867775"/>
            <a:ext cx="2788890" cy="4286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W8 종료 직후목표 타겟 패널 조사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14470410" y="8210550"/>
            <a:ext cx="2788890" cy="1333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Miss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14470410" y="8458200"/>
            <a:ext cx="2788890" cy="33337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0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전면 재검토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4470410" y="8867775"/>
            <a:ext cx="2788890" cy="428625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채널·파트너·예산 배분전략 전체 재설계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762000" y="9796463"/>
            <a:ext cx="4664571" cy="285750"/>
          </a:xfrm>
          <a:prstGeom prst="rect">
            <a:avLst/>
          </a:prstGeom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0D0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브랜드 인지도 40% 달성 — 이것이 성공의 유일한 기준이다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2026-03-13T05:28:58Z</dcterms:created>
  <dcterms:modified xsi:type="dcterms:W3CDTF">2026-03-13T05:28:58Z</dcterms:modified>
</cp:coreProperties>
</file>